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778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8076895" y="1371600"/>
            <a:ext cx="4114800" cy="4114800"/>
          </a:xfrm>
          <a:prstGeom prst="rect">
            <a:avLst/>
          </a:prstGeom>
          <a:solidFill>
            <a:srgbClr val="1B2A4E">
              <a:alpha val="2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735" y="1920240"/>
            <a:ext cx="210312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Job Agent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 Anschreiben für die deutsche Jobsuche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1097280" cy="45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Burbano   ·   Sahan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Ziele und Vision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91440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28492" y="1859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PyJobAgent macht das Bewerbungsverfahren für Jobsuchende schneller und einfacher.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33572" y="282752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Anschreiben sind eine repetitive, zeitaufwändige Aufgabe — perfekt geeignet für einen agentischen Workflow. Unser Agent übernimmt Suche, Bewertung und Erstellung automatisch.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2926080" y="454660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1"/>
          <p:cNvSpPr/>
          <p:nvPr/>
        </p:nvSpPr>
        <p:spPr>
          <a:xfrm>
            <a:off x="2926080" y="4546600"/>
            <a:ext cx="64008" cy="18288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2"/>
          <p:cNvSpPr/>
          <p:nvPr/>
        </p:nvSpPr>
        <p:spPr>
          <a:xfrm>
            <a:off x="3200400" y="4820920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493064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00400" y="5461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Fertiges PDF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3200400" y="58267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versandbereites Anschreiben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190232" y="4536440"/>
            <a:ext cx="26060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6"/>
          <p:cNvSpPr/>
          <p:nvPr/>
        </p:nvSpPr>
        <p:spPr>
          <a:xfrm>
            <a:off x="7190232" y="4536440"/>
            <a:ext cx="64008" cy="18288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27"/>
          <p:cNvSpPr/>
          <p:nvPr/>
        </p:nvSpPr>
        <p:spPr>
          <a:xfrm>
            <a:off x="7464552" y="4810760"/>
            <a:ext cx="548640" cy="54864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80" y="4920488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64552" y="5450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DE-Format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7464552" y="5816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deutsche Anschreiben-Struktur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C4-Context Diagramm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91440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F1F0428-4073-D10D-1905-28CD19618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9" y="1552264"/>
            <a:ext cx="5914861" cy="5097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91440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PyJobAgent  ·  Python Kurs SS26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08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40868" y="1783080"/>
            <a:ext cx="150876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9752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9752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88" y="29718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80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Lebenslauf hochladen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80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lädt CV hoch · LLM extrahiert Profil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1410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3"/>
          <p:cNvSpPr/>
          <p:nvPr/>
        </p:nvSpPr>
        <p:spPr>
          <a:xfrm>
            <a:off x="2141068" y="1783080"/>
            <a:ext cx="1508760" cy="10972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25754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25754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988" y="297180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782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Anschreiben-Beispiele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2782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Optionale Referenzen für den Stil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7412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9"/>
          <p:cNvSpPr/>
          <p:nvPr/>
        </p:nvSpPr>
        <p:spPr>
          <a:xfrm>
            <a:off x="3741268" y="1783080"/>
            <a:ext cx="150876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0"/>
          <p:cNvSpPr/>
          <p:nvPr/>
        </p:nvSpPr>
        <p:spPr>
          <a:xfrm>
            <a:off x="41756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1"/>
          <p:cNvSpPr/>
          <p:nvPr/>
        </p:nvSpPr>
        <p:spPr>
          <a:xfrm>
            <a:off x="41756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188" y="297180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784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Jobsuche per Agent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8784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LangChain-Agent ruft Arbeitnow-API auf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3414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5"/>
          <p:cNvSpPr/>
          <p:nvPr/>
        </p:nvSpPr>
        <p:spPr>
          <a:xfrm>
            <a:off x="5341468" y="1783080"/>
            <a:ext cx="1508760" cy="10972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6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7"/>
          <p:cNvSpPr/>
          <p:nvPr/>
        </p:nvSpPr>
        <p:spPr>
          <a:xfrm>
            <a:off x="5775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4388" y="2971800"/>
            <a:ext cx="502920" cy="5029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786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Bewertung &amp; Match-Score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4786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vergibt Score 0–100 mit Begründung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9416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1"/>
          <p:cNvSpPr/>
          <p:nvPr/>
        </p:nvSpPr>
        <p:spPr>
          <a:xfrm>
            <a:off x="6941668" y="1783080"/>
            <a:ext cx="150876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2"/>
          <p:cNvSpPr/>
          <p:nvPr/>
        </p:nvSpPr>
        <p:spPr>
          <a:xfrm>
            <a:off x="73760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3"/>
          <p:cNvSpPr/>
          <p:nvPr/>
        </p:nvSpPr>
        <p:spPr>
          <a:xfrm>
            <a:off x="73760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588" y="2971800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0788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Stelle auswählen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70788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Sortierte Anzeige · User wählt Job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5418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4" name="Shape 37"/>
          <p:cNvSpPr/>
          <p:nvPr/>
        </p:nvSpPr>
        <p:spPr>
          <a:xfrm>
            <a:off x="8541868" y="1783080"/>
            <a:ext cx="1508760" cy="109728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38"/>
          <p:cNvSpPr/>
          <p:nvPr/>
        </p:nvSpPr>
        <p:spPr>
          <a:xfrm>
            <a:off x="89762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39"/>
          <p:cNvSpPr/>
          <p:nvPr/>
        </p:nvSpPr>
        <p:spPr>
          <a:xfrm>
            <a:off x="89762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4788" y="2971800"/>
            <a:ext cx="502920" cy="5029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6790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Anschreiben generieren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86790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Auto-Erstellung &amp; Download als PDF/DOCX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10142068" y="1783080"/>
            <a:ext cx="150876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5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Shape 43"/>
          <p:cNvSpPr/>
          <p:nvPr/>
        </p:nvSpPr>
        <p:spPr>
          <a:xfrm>
            <a:off x="10142068" y="1783080"/>
            <a:ext cx="1508760" cy="1097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Shape 44"/>
          <p:cNvSpPr/>
          <p:nvPr/>
        </p:nvSpPr>
        <p:spPr>
          <a:xfrm>
            <a:off x="10576408" y="2148840"/>
            <a:ext cx="640080" cy="640080"/>
          </a:xfrm>
          <a:prstGeom prst="ellipse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45"/>
          <p:cNvSpPr/>
          <p:nvPr/>
        </p:nvSpPr>
        <p:spPr>
          <a:xfrm>
            <a:off x="105764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4988" y="2971800"/>
            <a:ext cx="502920" cy="50292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10279228" y="365760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SQL-Historie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10279228" y="4526280"/>
            <a:ext cx="1234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speichert alle Bewerbungen</a:t>
            </a:r>
            <a:endParaRPr lang="en-US" sz="1000" dirty="0"/>
          </a:p>
        </p:txBody>
      </p:sp>
      <p:sp>
        <p:nvSpPr>
          <p:cNvPr id="57" name="Shape 48"/>
          <p:cNvSpPr/>
          <p:nvPr/>
        </p:nvSpPr>
        <p:spPr>
          <a:xfrm>
            <a:off x="540868" y="6199632"/>
            <a:ext cx="1110996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Technische Daten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91440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49790C9-808A-1B81-CEDA-984D5C3081F1}"/>
              </a:ext>
            </a:extLst>
          </p:cNvPr>
          <p:cNvGrpSpPr/>
          <p:nvPr/>
        </p:nvGrpSpPr>
        <p:grpSpPr>
          <a:xfrm>
            <a:off x="240560" y="1828800"/>
            <a:ext cx="2179196" cy="4114800"/>
            <a:chOff x="502920" y="1874520"/>
            <a:chExt cx="3611880" cy="4114800"/>
          </a:xfrm>
        </p:grpSpPr>
        <p:sp>
          <p:nvSpPr>
            <p:cNvPr id="8" name="Shape 6"/>
            <p:cNvSpPr/>
            <p:nvPr/>
          </p:nvSpPr>
          <p:spPr>
            <a:xfrm>
              <a:off x="502920" y="1874520"/>
              <a:ext cx="3611880" cy="411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3C5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Shape 7"/>
            <p:cNvSpPr/>
            <p:nvPr/>
          </p:nvSpPr>
          <p:spPr>
            <a:xfrm>
              <a:off x="502920" y="1874520"/>
              <a:ext cx="3611880" cy="1463040"/>
            </a:xfrm>
            <a:prstGeom prst="rect">
              <a:avLst/>
            </a:prstGeom>
            <a:solidFill>
              <a:srgbClr val="1B2A4E"/>
            </a:solidFill>
            <a:ln w="12700">
              <a:solidFill>
                <a:srgbClr val="1B2A4E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00284" y="2203704"/>
              <a:ext cx="1148660" cy="731520"/>
            </a:xfrm>
            <a:prstGeom prst="rect">
              <a:avLst/>
            </a:prstGeom>
          </p:spPr>
        </p:pic>
        <p:sp>
          <p:nvSpPr>
            <p:cNvPr id="11" name="Text 8"/>
            <p:cNvSpPr/>
            <p:nvPr/>
          </p:nvSpPr>
          <p:spPr>
            <a:xfrm>
              <a:off x="777240" y="3520440"/>
              <a:ext cx="30632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E76F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1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777240" y="3886200"/>
              <a:ext cx="30632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B2A4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Streamlit UI</a:t>
              </a:r>
              <a:endParaRPr lang="en-US" sz="22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777240" y="4572000"/>
              <a:ext cx="457200" cy="27432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1"/>
            <p:cNvSpPr/>
            <p:nvPr/>
          </p:nvSpPr>
          <p:spPr>
            <a:xfrm>
              <a:off x="777240" y="4754880"/>
              <a:ext cx="30632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Python-natives Web-UI · direkte Funktions-Aufrufe ohne separates REST-Backend</a:t>
              </a:r>
              <a:endParaRPr lang="en-US" sz="1300" dirty="0"/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9B57E72-CCB7-0B08-4317-DA78A11574EE}"/>
              </a:ext>
            </a:extLst>
          </p:cNvPr>
          <p:cNvGrpSpPr/>
          <p:nvPr/>
        </p:nvGrpSpPr>
        <p:grpSpPr>
          <a:xfrm>
            <a:off x="4954237" y="1851152"/>
            <a:ext cx="2136130" cy="4114800"/>
            <a:chOff x="3516452" y="1828800"/>
            <a:chExt cx="3053080" cy="4114800"/>
          </a:xfrm>
        </p:grpSpPr>
        <p:sp>
          <p:nvSpPr>
            <p:cNvPr id="15" name="Shape 12"/>
            <p:cNvSpPr/>
            <p:nvPr/>
          </p:nvSpPr>
          <p:spPr>
            <a:xfrm>
              <a:off x="3516452" y="1828800"/>
              <a:ext cx="3053080" cy="411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3C5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Shape 13"/>
            <p:cNvSpPr/>
            <p:nvPr/>
          </p:nvSpPr>
          <p:spPr>
            <a:xfrm>
              <a:off x="3516452" y="1828800"/>
              <a:ext cx="3053080" cy="1463040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4"/>
            <p:cNvSpPr/>
            <p:nvPr/>
          </p:nvSpPr>
          <p:spPr>
            <a:xfrm>
              <a:off x="3790772" y="3474720"/>
              <a:ext cx="258932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E76F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Job API</a:t>
              </a:r>
              <a:endParaRPr lang="en-US" sz="110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3790772" y="3840480"/>
              <a:ext cx="2589321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 err="1">
                  <a:solidFill>
                    <a:srgbClr val="1B2A4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Arbeitnow</a:t>
              </a:r>
              <a:r>
                <a:rPr lang="en-US" sz="2200" b="1" dirty="0">
                  <a:solidFill>
                    <a:srgbClr val="1B2A4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 API</a:t>
              </a:r>
              <a:endParaRPr lang="en-US" sz="2200" dirty="0"/>
            </a:p>
          </p:txBody>
        </p:sp>
        <p:sp>
          <p:nvSpPr>
            <p:cNvPr id="20" name="Shape 16"/>
            <p:cNvSpPr/>
            <p:nvPr/>
          </p:nvSpPr>
          <p:spPr>
            <a:xfrm>
              <a:off x="3790772" y="4526280"/>
              <a:ext cx="386466" cy="27432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Text 17"/>
            <p:cNvSpPr/>
            <p:nvPr/>
          </p:nvSpPr>
          <p:spPr>
            <a:xfrm>
              <a:off x="3790772" y="4709160"/>
              <a:ext cx="2589321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 err="1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Fertige</a:t>
              </a: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API </a:t>
              </a:r>
              <a:r>
                <a:rPr lang="en-US" sz="1300" dirty="0" err="1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Schnittstelle</a:t>
              </a: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für Jobs in Deutschland</a:t>
              </a:r>
              <a:endParaRPr lang="en-US" sz="1300" dirty="0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68AAE2C-E8D6-CAE0-76E8-BB90C4AF8B0C}"/>
              </a:ext>
            </a:extLst>
          </p:cNvPr>
          <p:cNvGrpSpPr/>
          <p:nvPr/>
        </p:nvGrpSpPr>
        <p:grpSpPr>
          <a:xfrm>
            <a:off x="7280144" y="1851152"/>
            <a:ext cx="2112147" cy="4114800"/>
            <a:chOff x="3516452" y="1828800"/>
            <a:chExt cx="3053080" cy="4114800"/>
          </a:xfrm>
        </p:grpSpPr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766E913B-0D89-8C7A-D4AF-AFD54936A38B}"/>
                </a:ext>
              </a:extLst>
            </p:cNvPr>
            <p:cNvSpPr/>
            <p:nvPr/>
          </p:nvSpPr>
          <p:spPr>
            <a:xfrm>
              <a:off x="3516452" y="1828800"/>
              <a:ext cx="3053080" cy="411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3C5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13">
              <a:extLst>
                <a:ext uri="{FF2B5EF4-FFF2-40B4-BE49-F238E27FC236}">
                  <a16:creationId xmlns:a16="http://schemas.microsoft.com/office/drawing/2014/main" id="{861C9817-FA7F-9683-6ED0-D9B52CCA4D33}"/>
                </a:ext>
              </a:extLst>
            </p:cNvPr>
            <p:cNvSpPr/>
            <p:nvPr/>
          </p:nvSpPr>
          <p:spPr>
            <a:xfrm>
              <a:off x="3516452" y="1828800"/>
              <a:ext cx="3053080" cy="1463040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pic>
          <p:nvPicPr>
            <p:cNvPr id="31" name="Image 1" descr="preencoded.png">
              <a:extLst>
                <a:ext uri="{FF2B5EF4-FFF2-40B4-BE49-F238E27FC236}">
                  <a16:creationId xmlns:a16="http://schemas.microsoft.com/office/drawing/2014/main" id="{41647010-A499-2DC8-F2B4-B90A6D17F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481" y="2263140"/>
              <a:ext cx="941020" cy="731520"/>
            </a:xfrm>
            <a:prstGeom prst="rect">
              <a:avLst/>
            </a:prstGeom>
          </p:spPr>
        </p:pic>
        <p:sp>
          <p:nvSpPr>
            <p:cNvPr id="32" name="Text 14">
              <a:extLst>
                <a:ext uri="{FF2B5EF4-FFF2-40B4-BE49-F238E27FC236}">
                  <a16:creationId xmlns:a16="http://schemas.microsoft.com/office/drawing/2014/main" id="{72128C5C-1759-9AA4-BE36-1D15B11CA34D}"/>
                </a:ext>
              </a:extLst>
            </p:cNvPr>
            <p:cNvSpPr/>
            <p:nvPr/>
          </p:nvSpPr>
          <p:spPr>
            <a:xfrm>
              <a:off x="3790772" y="3474720"/>
              <a:ext cx="258932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E76F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DATENBANK</a:t>
              </a:r>
              <a:endParaRPr lang="en-US" sz="1100" dirty="0"/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3F7B84AF-1E1D-0A21-CF23-E67081DB8E56}"/>
                </a:ext>
              </a:extLst>
            </p:cNvPr>
            <p:cNvSpPr/>
            <p:nvPr/>
          </p:nvSpPr>
          <p:spPr>
            <a:xfrm>
              <a:off x="3790772" y="3840480"/>
              <a:ext cx="2589321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B2A4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Neon PostgreSQL</a:t>
              </a:r>
              <a:endParaRPr lang="en-US" sz="2200" dirty="0"/>
            </a:p>
          </p:txBody>
        </p:sp>
        <p:sp>
          <p:nvSpPr>
            <p:cNvPr id="34" name="Shape 16">
              <a:extLst>
                <a:ext uri="{FF2B5EF4-FFF2-40B4-BE49-F238E27FC236}">
                  <a16:creationId xmlns:a16="http://schemas.microsoft.com/office/drawing/2014/main" id="{1405130C-AFD8-76BA-3729-AF34D6F292CD}"/>
                </a:ext>
              </a:extLst>
            </p:cNvPr>
            <p:cNvSpPr/>
            <p:nvPr/>
          </p:nvSpPr>
          <p:spPr>
            <a:xfrm>
              <a:off x="3790772" y="4526280"/>
              <a:ext cx="386466" cy="27432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Text 17">
              <a:extLst>
                <a:ext uri="{FF2B5EF4-FFF2-40B4-BE49-F238E27FC236}">
                  <a16:creationId xmlns:a16="http://schemas.microsoft.com/office/drawing/2014/main" id="{C27CA27C-451A-6F36-1BB4-468143A31C1D}"/>
                </a:ext>
              </a:extLst>
            </p:cNvPr>
            <p:cNvSpPr/>
            <p:nvPr/>
          </p:nvSpPr>
          <p:spPr>
            <a:xfrm>
              <a:off x="3790772" y="4709160"/>
              <a:ext cx="2589321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Serverless Postgres · gespeicherte Bewerbungs-Historie pro User</a:t>
              </a:r>
              <a:endParaRPr lang="en-US" sz="1300" dirty="0"/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614601E4-2815-9D31-D5FA-3A582F49F1C7}"/>
              </a:ext>
            </a:extLst>
          </p:cNvPr>
          <p:cNvGrpSpPr/>
          <p:nvPr/>
        </p:nvGrpSpPr>
        <p:grpSpPr>
          <a:xfrm>
            <a:off x="9582068" y="1828800"/>
            <a:ext cx="2179197" cy="4114800"/>
            <a:chOff x="9117085" y="1901952"/>
            <a:chExt cx="2707284" cy="4114800"/>
          </a:xfrm>
        </p:grpSpPr>
        <p:sp>
          <p:nvSpPr>
            <p:cNvPr id="22" name="Shape 18"/>
            <p:cNvSpPr/>
            <p:nvPr/>
          </p:nvSpPr>
          <p:spPr>
            <a:xfrm>
              <a:off x="9117085" y="1901952"/>
              <a:ext cx="2707283" cy="411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3C5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23" name="Shape 19"/>
            <p:cNvSpPr/>
            <p:nvPr/>
          </p:nvSpPr>
          <p:spPr>
            <a:xfrm>
              <a:off x="9117086" y="1901952"/>
              <a:ext cx="2707283" cy="1463040"/>
            </a:xfrm>
            <a:prstGeom prst="rect">
              <a:avLst/>
            </a:prstGeom>
            <a:solidFill>
              <a:srgbClr val="1B2A4E"/>
            </a:solidFill>
            <a:ln w="12700">
              <a:solidFill>
                <a:srgbClr val="1B2A4E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17432" y="2290572"/>
              <a:ext cx="906587" cy="731520"/>
            </a:xfrm>
            <a:prstGeom prst="rect">
              <a:avLst/>
            </a:prstGeom>
          </p:spPr>
        </p:pic>
        <p:sp>
          <p:nvSpPr>
            <p:cNvPr id="25" name="Text 20"/>
            <p:cNvSpPr/>
            <p:nvPr/>
          </p:nvSpPr>
          <p:spPr>
            <a:xfrm>
              <a:off x="9322702" y="3547872"/>
              <a:ext cx="229605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E76F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HOSTING</a:t>
              </a:r>
              <a:endParaRPr lang="en-US" sz="1100" dirty="0"/>
            </a:p>
          </p:txBody>
        </p:sp>
        <p:sp>
          <p:nvSpPr>
            <p:cNvPr id="26" name="Text 21"/>
            <p:cNvSpPr/>
            <p:nvPr/>
          </p:nvSpPr>
          <p:spPr>
            <a:xfrm>
              <a:off x="9322702" y="3913632"/>
              <a:ext cx="229605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B2A4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Streamlit Cloud</a:t>
              </a:r>
              <a:endParaRPr lang="en-US" sz="2200" dirty="0"/>
            </a:p>
          </p:txBody>
        </p:sp>
        <p:sp>
          <p:nvSpPr>
            <p:cNvPr id="27" name="Shape 22"/>
            <p:cNvSpPr/>
            <p:nvPr/>
          </p:nvSpPr>
          <p:spPr>
            <a:xfrm>
              <a:off x="9322702" y="4599432"/>
              <a:ext cx="342694" cy="27432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3"/>
            <p:cNvSpPr/>
            <p:nvPr/>
          </p:nvSpPr>
          <p:spPr>
            <a:xfrm>
              <a:off x="9322702" y="4782312"/>
              <a:ext cx="229605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300" dirty="0"/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E579B241-3FAB-BC78-E29A-E6C103F2A388}"/>
              </a:ext>
            </a:extLst>
          </p:cNvPr>
          <p:cNvGrpSpPr/>
          <p:nvPr/>
        </p:nvGrpSpPr>
        <p:grpSpPr>
          <a:xfrm>
            <a:off x="2585265" y="1828800"/>
            <a:ext cx="2179195" cy="4114800"/>
            <a:chOff x="3516452" y="1828800"/>
            <a:chExt cx="3053080" cy="4114800"/>
          </a:xfrm>
        </p:grpSpPr>
        <p:sp>
          <p:nvSpPr>
            <p:cNvPr id="39" name="Shape 12">
              <a:extLst>
                <a:ext uri="{FF2B5EF4-FFF2-40B4-BE49-F238E27FC236}">
                  <a16:creationId xmlns:a16="http://schemas.microsoft.com/office/drawing/2014/main" id="{110CB598-EAC9-AF8E-5EB4-FD467C2FBCCC}"/>
                </a:ext>
              </a:extLst>
            </p:cNvPr>
            <p:cNvSpPr/>
            <p:nvPr/>
          </p:nvSpPr>
          <p:spPr>
            <a:xfrm>
              <a:off x="3516452" y="1828800"/>
              <a:ext cx="3053080" cy="411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3C5"/>
              </a:solidFill>
              <a:prstDash val="solid"/>
            </a:ln>
            <a:effectLst>
              <a:outerShdw blurRad="1016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40" name="Shape 13">
              <a:extLst>
                <a:ext uri="{FF2B5EF4-FFF2-40B4-BE49-F238E27FC236}">
                  <a16:creationId xmlns:a16="http://schemas.microsoft.com/office/drawing/2014/main" id="{6023EA2E-6EA7-C74D-54ED-FD17E30AC285}"/>
                </a:ext>
              </a:extLst>
            </p:cNvPr>
            <p:cNvSpPr/>
            <p:nvPr/>
          </p:nvSpPr>
          <p:spPr>
            <a:xfrm>
              <a:off x="3516452" y="1828800"/>
              <a:ext cx="3053080" cy="1463040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6A8DFC57-F10B-A7A7-8687-02B3CEFCCAA9}"/>
                </a:ext>
              </a:extLst>
            </p:cNvPr>
            <p:cNvSpPr/>
            <p:nvPr/>
          </p:nvSpPr>
          <p:spPr>
            <a:xfrm>
              <a:off x="3790772" y="3474720"/>
              <a:ext cx="258932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400" dirty="0">
                  <a:solidFill>
                    <a:srgbClr val="E76F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</a:t>
              </a:r>
              <a:endParaRPr lang="en-US" sz="1100" dirty="0"/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BD81E524-C58E-4E40-2183-A8A6296B5856}"/>
                </a:ext>
              </a:extLst>
            </p:cNvPr>
            <p:cNvSpPr/>
            <p:nvPr/>
          </p:nvSpPr>
          <p:spPr>
            <a:xfrm>
              <a:off x="3790772" y="3840480"/>
              <a:ext cx="2589321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 err="1">
                  <a:solidFill>
                    <a:srgbClr val="1B2A4E"/>
                  </a:solidFill>
                  <a:latin typeface="Georgia" pitchFamily="34" charset="0"/>
                </a:rPr>
                <a:t>Langchain</a:t>
              </a:r>
              <a:endParaRPr lang="en-US" sz="2200" dirty="0"/>
            </a:p>
          </p:txBody>
        </p:sp>
        <p:sp>
          <p:nvSpPr>
            <p:cNvPr id="44" name="Shape 16">
              <a:extLst>
                <a:ext uri="{FF2B5EF4-FFF2-40B4-BE49-F238E27FC236}">
                  <a16:creationId xmlns:a16="http://schemas.microsoft.com/office/drawing/2014/main" id="{079A8C47-A75F-228D-AC2D-09D0583CF937}"/>
                </a:ext>
              </a:extLst>
            </p:cNvPr>
            <p:cNvSpPr/>
            <p:nvPr/>
          </p:nvSpPr>
          <p:spPr>
            <a:xfrm>
              <a:off x="3790772" y="4526280"/>
              <a:ext cx="386466" cy="27432"/>
            </a:xfrm>
            <a:prstGeom prst="rect">
              <a:avLst/>
            </a:prstGeom>
            <a:solidFill>
              <a:srgbClr val="E76F51"/>
            </a:solidFill>
            <a:ln w="12700">
              <a:solidFill>
                <a:srgbClr val="E76F5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Text 17">
              <a:extLst>
                <a:ext uri="{FF2B5EF4-FFF2-40B4-BE49-F238E27FC236}">
                  <a16:creationId xmlns:a16="http://schemas.microsoft.com/office/drawing/2014/main" id="{0978B57B-5985-EBB3-486A-128DF7C322D4}"/>
                </a:ext>
              </a:extLst>
            </p:cNvPr>
            <p:cNvSpPr/>
            <p:nvPr/>
          </p:nvSpPr>
          <p:spPr>
            <a:xfrm>
              <a:off x="3790772" y="4709160"/>
              <a:ext cx="2589321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D374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Framework für Python Agents</a:t>
              </a:r>
            </a:p>
          </p:txBody>
        </p:sp>
      </p:grpSp>
      <p:pic>
        <p:nvPicPr>
          <p:cNvPr id="46" name="Grafik 45" descr="&lt;svg xmlns=&quot;http://www.w3.org/2000/svg&quot; height=&quot;24px&quot; viewBox=&quot;0 -960 960 960&quot; width=&quot;24px&quot; fill=&quot;#FFFFFF&quot;&gt;&lt;path d=&quot;M160-360q-50 0-85-35t-35-85q0-50 35-85t85-35v-80q0-33 23.5-56.5T240-760h120q0-50 35-85t85-35q50 0 85 35t35 85h120q33 0 56.5 23.5T800-680v80q50 0 85 35t35 85q0 50-35 85t-85 35v160q0 33-23.5 56.5T720-120H240q-33 0-56.5-23.5T160-200v-160Zm242.5-97.5Q420-475 420-500t-17.5-42.5Q385-560 360-560t-42.5 17.5Q300-525 300-500t17.5 42.5Q335-440 360-440t42.5-17.5Zm240 0Q660-475 660-500t-17.5-42.5Q625-560 600-560t-42.5 17.5Q540-525 540-500t17.5 42.5Q575-440 600-440t42.5-17.5ZM320-280h320v-80H320v80Zm-80 80h480v-480H240v480Zm240-240Z&quot;/&gt;&lt;/svg&gt;">
            <a:extLst>
              <a:ext uri="{FF2B5EF4-FFF2-40B4-BE49-F238E27FC236}">
                <a16:creationId xmlns:a16="http://schemas.microsoft.com/office/drawing/2014/main" id="{2B986535-0693-9A92-6A7C-ED362AAC1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352" y="2108200"/>
            <a:ext cx="914400" cy="914400"/>
          </a:xfrm>
          <a:prstGeom prst="rect">
            <a:avLst/>
          </a:prstGeom>
        </p:spPr>
      </p:pic>
      <p:pic>
        <p:nvPicPr>
          <p:cNvPr id="47" name="Grafik 46" descr="&lt;svg xmlns=&quot;http://www.w3.org/2000/svg&quot; height=&quot;24px&quot; viewBox=&quot;0 -960 960 960&quot; width=&quot;24px&quot; fill=&quot;#FFFFFF&quot;&gt;&lt;path d=&quot;M260-160q-91 0-155.5-63T40-377q0-78 47-139t123-78q17-72 85-137t145-65q33 0 56.5 23.5T520-716v242l64-62 56 56-160 160-160-160 56-56 64 62v-242q-76 14-118 73.5T280-520h-20q-58 0-99 41t-41 99q0 58 41 99t99 41h480q42 0 71-29t29-71q0-42-29-71t-71-29h-60v-80q0-48-22-89.5T600-680v-93q74 35 117 103.5T760-520q69 8 114.5 59.5T920-340q0 75-52.5 127.5T740-160H260Zm220-358Z&quot;/&gt;&lt;/svg&gt;">
            <a:extLst>
              <a:ext uri="{FF2B5EF4-FFF2-40B4-BE49-F238E27FC236}">
                <a16:creationId xmlns:a16="http://schemas.microsoft.com/office/drawing/2014/main" id="{0E681DC9-F82A-F3E3-1ED3-618E1B1E1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647" y="2108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914400" cy="36576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735865"/>
              </p:ext>
            </p:extLst>
          </p:nvPr>
        </p:nvGraphicFramePr>
        <p:xfrm>
          <a:off x="502920" y="1783080"/>
          <a:ext cx="11185855" cy="4526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Funktion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Agent-Framework · LLM-Orchestrierung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langchain-google-genai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für Google Gemini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langchain-groq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für Groq LLMs (schnelle Inference)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google-genai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Direkter Client für die Gemini-API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Web-UI · Frontend für den Agenten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PDF-Parser für den Lebenslauf-Upload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Datenvalidierung &amp; strukturierte LLM-Outputs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HTTP-Anfragen an die Arbeitnow-Job-API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python-dotenv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Laden von Umgebungsvariablen (API-Keys)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 err="1">
                          <a:solidFill>
                            <a:srgbClr val="1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Nützlich</a:t>
                      </a: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für die </a:t>
                      </a:r>
                      <a:r>
                        <a:rPr lang="en-US" sz="1200" dirty="0" err="1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Datenbankanbindung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971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Breitbild</PresentationFormat>
  <Paragraphs>78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Job Agent</dc:title>
  <dc:subject>PptxGenJS Presentation</dc:subject>
  <dc:creator>Nicolas Burbano &amp; Sahan</dc:creator>
  <cp:lastModifiedBy>Nicolas Burbano</cp:lastModifiedBy>
  <cp:revision>6</cp:revision>
  <dcterms:created xsi:type="dcterms:W3CDTF">2026-05-10T22:05:11Z</dcterms:created>
  <dcterms:modified xsi:type="dcterms:W3CDTF">2026-05-12T16:29:43Z</dcterms:modified>
</cp:coreProperties>
</file>